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A9B8A3-308F-4602-8A10-A385946EEED5}" v="3" dt="2026-09-23T16:38:11.26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avakumar.in@gmail.com" userId="798ece908ce1efad" providerId="LiveId" clId="{3C5E7F4C-E2B4-4338-9DC1-D455DF6C8446}"/>
    <pc:docChg chg="modSld">
      <pc:chgData name="basavakumar.in@gmail.com" userId="798ece908ce1efad" providerId="LiveId" clId="{3C5E7F4C-E2B4-4338-9DC1-D455DF6C8446}" dt="2026-09-23T16:38:16.077" v="6" actId="20577"/>
      <pc:docMkLst>
        <pc:docMk/>
      </pc:docMkLst>
      <pc:sldChg chg="modSp mod">
        <pc:chgData name="basavakumar.in@gmail.com" userId="798ece908ce1efad" providerId="LiveId" clId="{3C5E7F4C-E2B4-4338-9DC1-D455DF6C8446}" dt="2026-09-23T16:38:16.077" v="6" actId="20577"/>
        <pc:sldMkLst>
          <pc:docMk/>
          <pc:sldMk cId="4040412275" sldId="305"/>
        </pc:sldMkLst>
        <pc:spChg chg="mod">
          <ac:chgData name="basavakumar.in@gmail.com" userId="798ece908ce1efad" providerId="LiveId" clId="{3C5E7F4C-E2B4-4338-9DC1-D455DF6C8446}" dt="2026-09-23T16:38:16.077" v="6" actId="20577"/>
          <ac:spMkLst>
            <pc:docMk/>
            <pc:sldMk cId="4040412275" sldId="305"/>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nusha-Gangoor/AI-Mechanical-Safety-Compliance-Advisor"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anusha-gangoor-ai-mechanical-safety-compliance-advis-app-v8go9u.streamlit.app/"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wrap="square" anchor="t">
            <a:normAutofit/>
          </a:bodyPr>
          <a:lstStyle/>
          <a:p>
            <a:pPr algn="ctr">
              <a:defRPr sz="2800" b="1">
                <a:solidFill>
                  <a:srgbClr val="1E1E1E"/>
                </a:solidFill>
                <a:latin typeface="Arial"/>
              </a:defRPr>
            </a:pPr>
            <a:r>
              <a:t>IBM University Engagement Project Submission</a:t>
            </a: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wrap="square" anchor="t"/>
          <a:lstStyle/>
          <a:p>
            <a:pPr algn="ctr">
              <a:defRPr sz="2400" b="0">
                <a:solidFill>
                  <a:srgbClr val="1E1E1E"/>
                </a:solidFill>
                <a:latin typeface="Arial"/>
              </a:defRPr>
            </a:pPr>
            <a:r>
              <a:t>AI Mechanical Safety Compliance Advisor</a:t>
            </a:r>
            <a:br/>
            <a:r>
              <a:t>Agentic AI + RAG for Industrial Machine Safety</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9725809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ANUSHA GANGOOR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anushaaaa436@gmail.com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8660493987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96950" y="3738417"/>
            <a:ext cx="674648"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nchor="t">
            <a:spAutoFit/>
          </a:bodyPr>
          <a:lstStyle/>
          <a:p>
            <a:pPr>
              <a:defRPr sz="2200" b="1">
                <a:solidFill>
                  <a:srgbClr val="1E1E1E"/>
                </a:solidFill>
                <a:latin typeface="Arial"/>
              </a:defRPr>
            </a:pPr>
            <a:r>
              <a:t>Domain of Project – Industrial Safety / Manufacturing</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nchor="t">
            <a:spAutoFit/>
          </a:bodyPr>
          <a:lstStyle/>
          <a:p>
            <a:pPr>
              <a:defRPr sz="2400" b="1">
                <a:solidFill>
                  <a:srgbClr val="1E1E1E"/>
                </a:solidFill>
                <a:latin typeface="Arial"/>
              </a:defRPr>
            </a:pPr>
            <a:r>
              <a:t>Project Title – AI Mechanical Safety Compliance Advisor</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800" b="0">
                <a:solidFill>
                  <a:srgbClr val="1E1E1E"/>
                </a:solidFill>
                <a:latin typeface="Arial"/>
              </a:defRPr>
            </a:pPr>
            <a:r>
              <a:t>Project focus:</a:t>
            </a:r>
            <a:br/>
            <a:r>
              <a:t>AI-assisted safety compliance checking for industrial machines using RAG, machine operating parameters, risk classification, and actionable safety recommendations.</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596640"/>
            <a:ext cx="10485218" cy="4801314"/>
          </a:xfrm>
          <a:prstGeom prst="rect">
            <a:avLst/>
          </a:prstGeom>
          <a:noFill/>
        </p:spPr>
        <p:txBody>
          <a:bodyPr wrap="square" rtlCol="0" anchor="t">
            <a:spAutoFit/>
          </a:bodyPr>
          <a:lstStyle/>
          <a:p>
            <a:pPr fontAlgn="base">
              <a:defRPr sz="1700" b="0">
                <a:solidFill>
                  <a:srgbClr val="1E1E1E"/>
                </a:solidFill>
                <a:latin typeface="Arial"/>
              </a:defRPr>
            </a:pPr>
            <a:r>
              <a:rPr b="1" dirty="0"/>
              <a:t>THE CHALLENGE</a:t>
            </a:r>
            <a:br>
              <a:rPr dirty="0"/>
            </a:br>
            <a:br>
              <a:rPr dirty="0"/>
            </a:br>
            <a:r>
              <a:rPr dirty="0"/>
              <a:t>Industrial machines can become unsafe when operating parameters move outside defined limits or safety devices are not in the required state. Manual checking can be slow, inconsistent, and difficult to document.</a:t>
            </a:r>
            <a:br>
              <a:rPr dirty="0"/>
            </a:br>
            <a:br>
              <a:rPr dirty="0"/>
            </a:br>
            <a:r>
              <a:rPr b="1" dirty="0"/>
              <a:t>THE OBJECTIVE</a:t>
            </a:r>
            <a:br>
              <a:rPr dirty="0"/>
            </a:br>
            <a:br>
              <a:rPr dirty="0"/>
            </a:br>
            <a:r>
              <a:rPr dirty="0"/>
              <a:t>Build an AI Mechanical Safety Compliance Advisor that:</a:t>
            </a:r>
            <a:br>
              <a:rPr dirty="0"/>
            </a:br>
            <a:r>
              <a:rPr dirty="0"/>
              <a:t>• Accepts machine ID, machine type, temperature, pressure, RPM, guard status, emergency-stop status and operating condition.</a:t>
            </a:r>
            <a:br>
              <a:rPr dirty="0"/>
            </a:br>
            <a:r>
              <a:rPr dirty="0"/>
              <a:t>• Retrieves relevant safety rules from a document knowledge base using RAG.</a:t>
            </a:r>
            <a:br>
              <a:rPr dirty="0"/>
            </a:br>
            <a:r>
              <a:rPr dirty="0"/>
              <a:t>• Compares observed values with defined safety thresholds.</a:t>
            </a:r>
            <a:br>
              <a:rPr dirty="0"/>
            </a:br>
            <a:r>
              <a:rPr dirty="0"/>
              <a:t>• Identifies risks and produces an overall LOW / MEDIUM / HIGH assessment.</a:t>
            </a:r>
            <a:br>
              <a:rPr dirty="0"/>
            </a:br>
            <a:r>
              <a:rPr dirty="0"/>
              <a:t>• Generates COMPLIANT / NON-COMPLIANT findings and recommended actions.</a:t>
            </a:r>
            <a:br>
              <a:rPr dirty="0"/>
            </a:br>
            <a:r>
              <a:rPr dirty="0"/>
              <a:t>• Maintains safety-check history, alerts and dashboard summaries.</a:t>
            </a:r>
            <a:br>
              <a:rPr dirty="0"/>
            </a:br>
            <a:br>
              <a:rPr dirty="0"/>
            </a:br>
            <a:r>
              <a:rPr b="1" dirty="0"/>
              <a:t>CURRENT KNOWLEDGE BASE</a:t>
            </a:r>
            <a:br>
              <a:rPr dirty="0"/>
            </a:br>
            <a:r>
              <a:rPr dirty="0"/>
              <a:t>5 safety documents • 75 indexed chunks • TF-IDF retrieval</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892552"/>
          </a:xfrm>
          <a:prstGeom prst="rect">
            <a:avLst/>
          </a:prstGeom>
          <a:noFill/>
        </p:spPr>
        <p:txBody>
          <a:bodyPr wrap="square" rtlCol="0" anchor="t">
            <a:spAutoFit/>
          </a:bodyPr>
          <a:lstStyle/>
          <a:p>
            <a:pPr>
              <a:defRPr sz="2600" b="1">
                <a:solidFill>
                  <a:srgbClr val="1E1E1E"/>
                </a:solidFill>
                <a:latin typeface="Arial"/>
              </a:defRPr>
            </a:pPr>
            <a:r>
              <a:rPr dirty="0"/>
              <a:t>Problem Statement – Industrial Machine Sa</a:t>
            </a:r>
            <a:r>
              <a:rPr lang="en-IN" dirty="0" err="1"/>
              <a:t>fety</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03680"/>
            <a:ext cx="10569448" cy="4993739"/>
          </a:xfrm>
          <a:prstGeom prst="rect">
            <a:avLst/>
          </a:prstGeom>
          <a:noFill/>
        </p:spPr>
        <p:txBody>
          <a:bodyPr wrap="square" rtlCol="0" anchor="t">
            <a:spAutoFit/>
          </a:bodyPr>
          <a:lstStyle/>
          <a:p>
            <a:pPr fontAlgn="base">
              <a:defRPr sz="1600" b="0">
                <a:solidFill>
                  <a:srgbClr val="1E1E1E"/>
                </a:solidFill>
                <a:latin typeface="Arial"/>
              </a:defRPr>
            </a:pPr>
            <a:r>
              <a:rPr dirty="0"/>
              <a:t>The solution is a </a:t>
            </a:r>
            <a:r>
              <a:rPr dirty="0" err="1"/>
              <a:t>Streamlit</a:t>
            </a:r>
            <a:r>
              <a:rPr dirty="0"/>
              <a:t>-based AI safety application that combines Retrieval-Augmented Generation (RAG) with machine-parameter analysis to support mechanical safety compliance checks.</a:t>
            </a:r>
            <a:br>
              <a:rPr dirty="0"/>
            </a:br>
            <a:br>
              <a:rPr dirty="0"/>
            </a:br>
            <a:r>
              <a:rPr dirty="0"/>
              <a:t>WORKFLOW</a:t>
            </a:r>
            <a:br>
              <a:rPr dirty="0"/>
            </a:br>
            <a:r>
              <a:rPr dirty="0"/>
              <a:t>1. Operator enters machine information and current operating parameters.</a:t>
            </a:r>
            <a:br>
              <a:rPr dirty="0"/>
            </a:br>
            <a:r>
              <a:rPr dirty="0"/>
              <a:t>2. RAG retrieves relevant rules from the indexed safety documents.</a:t>
            </a:r>
            <a:br>
              <a:rPr dirty="0"/>
            </a:br>
            <a:r>
              <a:rPr dirty="0"/>
              <a:t>3. AI analysis compares observations with retrieved safety requirements.</a:t>
            </a:r>
            <a:br>
              <a:rPr dirty="0"/>
            </a:br>
            <a:r>
              <a:rPr dirty="0"/>
              <a:t>4. Risks are classified and compliance findings are generated.</a:t>
            </a:r>
            <a:br>
              <a:rPr dirty="0"/>
            </a:br>
            <a:r>
              <a:rPr dirty="0"/>
              <a:t>5. The system recommends immediate, short-term or scheduled actions.</a:t>
            </a:r>
            <a:br>
              <a:rPr dirty="0"/>
            </a:br>
            <a:r>
              <a:rPr dirty="0"/>
              <a:t>6. Results are stored in Safety Check History and reflected on the Dashboard.</a:t>
            </a:r>
            <a:br>
              <a:rPr dirty="0"/>
            </a:br>
            <a:br>
              <a:rPr dirty="0"/>
            </a:br>
            <a:r>
              <a:rPr dirty="0"/>
              <a:t>KEY OUTPUTS</a:t>
            </a:r>
            <a:br>
              <a:rPr dirty="0"/>
            </a:br>
            <a:r>
              <a:rPr dirty="0"/>
              <a:t>• Overall risk level and compliance status</a:t>
            </a:r>
            <a:br>
              <a:rPr dirty="0"/>
            </a:br>
            <a:r>
              <a:rPr dirty="0"/>
              <a:t>• Detected risks with reasons and source documents</a:t>
            </a:r>
            <a:br>
              <a:rPr dirty="0"/>
            </a:br>
            <a:r>
              <a:rPr dirty="0"/>
              <a:t>• Parameter-by-parameter compliance findings</a:t>
            </a:r>
            <a:br>
              <a:rPr dirty="0"/>
            </a:br>
            <a:r>
              <a:rPr dirty="0"/>
              <a:t>• Recommended safety actions</a:t>
            </a:r>
            <a:br>
              <a:rPr dirty="0"/>
            </a:br>
            <a:r>
              <a:rPr dirty="0"/>
              <a:t>• Safety alerts and historical reports</a:t>
            </a:r>
            <a:br>
              <a:rPr dirty="0"/>
            </a:br>
            <a:br>
              <a:rPr dirty="0"/>
            </a:br>
            <a:r>
              <a:rPr dirty="0"/>
              <a:t>Example: M002 was flagged HIGH / NON-COMPLIANT because temperature, pressure and RPM exceeded defined limits and the safety guard was OPEN.</a:t>
            </a:r>
            <a:endParaRPr lang="en-US"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nchor="t">
            <a:spAutoFit/>
          </a:bodyPr>
          <a:lstStyle/>
          <a:p>
            <a:pPr>
              <a:defRPr sz="2500" b="1">
                <a:solidFill>
                  <a:srgbClr val="1E1E1E"/>
                </a:solidFill>
                <a:latin typeface="Arial"/>
              </a:defRPr>
            </a:pPr>
            <a:r>
              <a:rPr dirty="0"/>
              <a:t>Proposed Solution – AI Mechanical Safety Compliance Advisor</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pPr>
              <a:defRPr sz="2600" b="1">
                <a:solidFill>
                  <a:srgbClr val="1E1E1E"/>
                </a:solidFill>
                <a:latin typeface="Arial"/>
              </a:defRPr>
            </a:pPr>
            <a:r>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62924"/>
          </a:xfrm>
          <a:prstGeom prst="rect">
            <a:avLst/>
          </a:prstGeom>
          <a:noFill/>
        </p:spPr>
        <p:txBody>
          <a:bodyPr wrap="square" rtlCol="0" anchor="t">
            <a:spAutoFit/>
          </a:bodyPr>
          <a:lstStyle/>
          <a:p>
            <a:pPr marL="285750" indent="-285750">
              <a:buFont typeface="Arial" panose="020B0604020202020204" pitchFamily="34" charset="0"/>
              <a:buChar char="•"/>
              <a:defRPr sz="1700" b="0">
                <a:solidFill>
                  <a:srgbClr val="1E1E1E"/>
                </a:solidFill>
                <a:latin typeface="Arial"/>
              </a:defRPr>
            </a:pPr>
            <a:r>
              <a:rPr dirty="0"/>
              <a:t>Python – Core application and safety-analysis logic</a:t>
            </a:r>
            <a:br>
              <a:rPr dirty="0"/>
            </a:br>
            <a:br>
              <a:rPr dirty="0"/>
            </a:br>
            <a:r>
              <a:rPr dirty="0" err="1"/>
              <a:t>Streamlit</a:t>
            </a:r>
            <a:r>
              <a:rPr dirty="0"/>
              <a:t> – Interactive web dashboard and user interface</a:t>
            </a:r>
            <a:br>
              <a:rPr dirty="0"/>
            </a:br>
            <a:br>
              <a:rPr dirty="0"/>
            </a:br>
            <a:r>
              <a:rPr dirty="0" err="1"/>
              <a:t>Groq</a:t>
            </a:r>
            <a:r>
              <a:rPr dirty="0"/>
              <a:t> API / LLM – Natural-language reasoning and generation for safety analysis</a:t>
            </a:r>
            <a:br>
              <a:rPr dirty="0"/>
            </a:br>
            <a:br>
              <a:rPr dirty="0"/>
            </a:br>
            <a:r>
              <a:rPr dirty="0"/>
              <a:t>RAG Pipeline – Retrieves relevant safety rules before generating the response</a:t>
            </a:r>
            <a:br>
              <a:rPr dirty="0"/>
            </a:br>
            <a:br>
              <a:rPr dirty="0"/>
            </a:br>
            <a:r>
              <a:rPr dirty="0"/>
              <a:t>TF-IDF (scikit-learn) – Document vectorization and similarity-based retrieval</a:t>
            </a:r>
            <a:br>
              <a:rPr dirty="0"/>
            </a:br>
            <a:br>
              <a:rPr dirty="0"/>
            </a:br>
            <a:r>
              <a:rPr dirty="0"/>
              <a:t>Knowledge Base – 5 safety documents / 75 indexed chunks:</a:t>
            </a:r>
            <a:br>
              <a:rPr dirty="0"/>
            </a:br>
            <a:r>
              <a:rPr dirty="0"/>
              <a:t>• safety_guidelines.txt</a:t>
            </a:r>
            <a:br>
              <a:rPr dirty="0"/>
            </a:br>
            <a:r>
              <a:rPr dirty="0"/>
              <a:t>• machine_operation.txt</a:t>
            </a:r>
            <a:br>
              <a:rPr dirty="0"/>
            </a:br>
            <a:r>
              <a:rPr dirty="0"/>
              <a:t>• maintenance_safety.txt</a:t>
            </a:r>
            <a:br>
              <a:rPr dirty="0"/>
            </a:br>
            <a:r>
              <a:rPr dirty="0"/>
              <a:t>• emergency_procedures.txt</a:t>
            </a:r>
            <a:br>
              <a:rPr dirty="0"/>
            </a:br>
            <a:r>
              <a:rPr dirty="0"/>
              <a:t>• safety_inspection_guidelines.txt</a:t>
            </a:r>
            <a:br>
              <a:rPr dirty="0"/>
            </a:br>
            <a:br>
              <a:rPr dirty="0"/>
            </a:br>
            <a:r>
              <a:rPr dirty="0"/>
              <a:t>Application features – Safety Check, Safety Report, Knowledge Base, History, Alerts and Dashboard</a:t>
            </a:r>
            <a:br>
              <a:rPr dirty="0"/>
            </a:br>
            <a:r>
              <a:rPr dirty="0"/>
              <a:t>Environment configuration – API credentials stored outside the public UI/source when deployed</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defRPr sz="2600" b="1">
                <a:solidFill>
                  <a:srgbClr val="1E1E1E"/>
                </a:solidFill>
                <a:latin typeface="Arial"/>
              </a:defRPr>
            </a:pPr>
            <a:r>
              <a:t>Project Files / Components</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nchor="t">
            <a:spAutoFit/>
          </a:bodyPr>
          <a:lstStyle/>
          <a:p>
            <a:pPr marL="342900" indent="-342900">
              <a:buFont typeface="+mj-lt"/>
              <a:buAutoNum type="arabicPeriod"/>
              <a:defRPr sz="1700" b="0">
                <a:solidFill>
                  <a:srgbClr val="1E1E1E"/>
                </a:solidFill>
                <a:latin typeface="Arial"/>
              </a:defRPr>
            </a:pPr>
            <a:r>
              <a:t>Core application</a:t>
            </a:r>
            <a:br/>
            <a:r>
              <a:t>• app.py – Streamlit application and workflow</a:t>
            </a:r>
            <a:br/>
            <a:r>
              <a:t>• requirements.txt – Python dependencies</a:t>
            </a:r>
            <a:br/>
            <a:r>
              <a:t>• .env / secrets – API configuration</a:t>
            </a:r>
            <a:br/>
            <a:r>
              <a:t>• Custom styling / CSS where applicable</a:t>
            </a:r>
            <a:br/>
            <a:br/>
            <a:r>
              <a:t>Safety knowledge base</a:t>
            </a:r>
            <a:br/>
            <a:r>
              <a:t>• safety_guidelines.txt</a:t>
            </a:r>
            <a:br/>
            <a:r>
              <a:t>• machine_operation.txt</a:t>
            </a:r>
            <a:br/>
            <a:r>
              <a:t>• maintenance_safety.txt</a:t>
            </a:r>
            <a:br/>
            <a:r>
              <a:t>• emergency_procedures.txt</a:t>
            </a:r>
            <a:br/>
            <a:r>
              <a:t>• safety_inspection_guidelines.txt</a:t>
            </a:r>
            <a:br/>
            <a:br/>
            <a:r>
              <a:t>Functional modules</a:t>
            </a:r>
            <a:br/>
            <a:r>
              <a:t>• Safety Check input and validation</a:t>
            </a:r>
            <a:br/>
            <a:r>
              <a:t>• RAG retrieval</a:t>
            </a:r>
            <a:br/>
            <a:r>
              <a:t>• AI compliance analysis</a:t>
            </a:r>
            <a:br/>
            <a:r>
              <a:t>• Safety report generation</a:t>
            </a:r>
            <a:br/>
            <a:r>
              <a:t>• History and alert tracking</a:t>
            </a:r>
            <a:br/>
            <a:r>
              <a:t>• Dashboard summary</a:t>
            </a:r>
            <a:endParaRPr lang="en-US"/>
          </a:p>
        </p:txBody>
      </p:sp>
      <p:pic>
        <p:nvPicPr>
          <p:cNvPr id="4" name="Picture 3">
            <a:extLst>
              <a:ext uri="{FF2B5EF4-FFF2-40B4-BE49-F238E27FC236}">
                <a16:creationId xmlns:a16="http://schemas.microsoft.com/office/drawing/2014/main" id="{56D80065-0AA8-6E79-8924-02B84A0AC624}"/>
              </a:ext>
            </a:extLst>
          </p:cNvPr>
          <p:cNvPicPr>
            <a:picLocks noChangeAspect="1"/>
          </p:cNvPicPr>
          <p:nvPr/>
        </p:nvPicPr>
        <p:blipFill>
          <a:blip r:embed="rId3"/>
          <a:stretch>
            <a:fillRect/>
          </a:stretch>
        </p:blipFill>
        <p:spPr>
          <a:xfrm>
            <a:off x="5510053" y="863187"/>
            <a:ext cx="6162711" cy="535375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defRPr sz="2500" b="1">
                <a:solidFill>
                  <a:srgbClr val="1E1E1E"/>
                </a:solidFill>
                <a:latin typeface="Arial"/>
              </a:defRPr>
            </a:pPr>
            <a:r>
              <a:t>Application Screenshot – Dashboard</a:t>
            </a:r>
            <a:endParaRPr sz="2400" b="1">
              <a:sym typeface="Times New Roman"/>
            </a:endParaRPr>
          </a:p>
        </p:txBody>
      </p:sp>
      <p:sp>
        <p:nvSpPr>
          <p:cNvPr id="7" name="TextBox 6">
            <a:extLst>
              <a:ext uri="{FF2B5EF4-FFF2-40B4-BE49-F238E27FC236}">
                <a16:creationId xmlns:a16="http://schemas.microsoft.com/office/drawing/2014/main" id="{D6C89AA3-2B49-01BB-A6DE-AB35CD0CA2AB}"/>
              </a:ext>
            </a:extLst>
          </p:cNvPr>
          <p:cNvSpPr txBox="1"/>
          <p:nvPr/>
        </p:nvSpPr>
        <p:spPr>
          <a:xfrm>
            <a:off x="2340077" y="2615381"/>
            <a:ext cx="184731" cy="307777"/>
          </a:xfrm>
          <a:prstGeom prst="rect">
            <a:avLst/>
          </a:prstGeom>
          <a:noFill/>
        </p:spPr>
        <p:txBody>
          <a:bodyPr wrap="none" rtlCol="0">
            <a:spAutoFit/>
          </a:bodyPr>
          <a:lstStyle/>
          <a:p>
            <a:endParaRPr lang="en-IN"/>
          </a:p>
        </p:txBody>
      </p:sp>
      <p:pic>
        <p:nvPicPr>
          <p:cNvPr id="9" name="Picture 8">
            <a:extLst>
              <a:ext uri="{FF2B5EF4-FFF2-40B4-BE49-F238E27FC236}">
                <a16:creationId xmlns:a16="http://schemas.microsoft.com/office/drawing/2014/main" id="{905039A9-4A44-377F-01CB-BD310D37BDD5}"/>
              </a:ext>
            </a:extLst>
          </p:cNvPr>
          <p:cNvPicPr>
            <a:picLocks noChangeAspect="1"/>
          </p:cNvPicPr>
          <p:nvPr/>
        </p:nvPicPr>
        <p:blipFill>
          <a:blip r:embed="rId3"/>
          <a:stretch>
            <a:fillRect/>
          </a:stretch>
        </p:blipFill>
        <p:spPr>
          <a:xfrm>
            <a:off x="704738" y="914401"/>
            <a:ext cx="9855107" cy="554349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02920" y="274320"/>
            <a:ext cx="6400800" cy="50292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500" b="1">
                <a:solidFill>
                  <a:srgbClr val="1E1E1E"/>
                </a:solidFill>
                <a:latin typeface="Arial"/>
              </a:defRPr>
            </a:pPr>
            <a:r>
              <a:t>Knowledge Base &amp; RAG Configuration</a:t>
            </a:r>
          </a:p>
        </p:txBody>
      </p:sp>
      <p:sp>
        <p:nvSpPr>
          <p:cNvPr id="7" name="TextBox 6"/>
          <p:cNvSpPr txBox="1"/>
          <p:nvPr/>
        </p:nvSpPr>
        <p:spPr>
          <a:xfrm>
            <a:off x="685800" y="1051560"/>
            <a:ext cx="5303520" cy="4389120"/>
          </a:xfrm>
          <a:prstGeom prst="rect">
            <a:avLst/>
          </a:prstGeom>
          <a:noFill/>
        </p:spPr>
        <p:txBody>
          <a:bodyPr wrap="square">
            <a:spAutoFit/>
          </a:bodyPr>
          <a:lstStyle/>
          <a:p>
            <a:pPr>
              <a:defRPr sz="2000" b="1">
                <a:latin typeface="Arial"/>
              </a:defRPr>
            </a:pPr>
            <a:r>
              <a:t>Indexed Safety Knowledge</a:t>
            </a:r>
          </a:p>
          <a:p>
            <a:pPr>
              <a:spcAft>
                <a:spcPts val="500"/>
              </a:spcAft>
              <a:defRPr sz="1800">
                <a:latin typeface="Arial"/>
              </a:defRPr>
            </a:pPr>
            <a:r>
              <a:t>• 5 source documents indexed</a:t>
            </a:r>
          </a:p>
          <a:p>
            <a:pPr>
              <a:spcAft>
                <a:spcPts val="500"/>
              </a:spcAft>
              <a:defRPr sz="1800">
                <a:latin typeface="Arial"/>
              </a:defRPr>
            </a:pPr>
            <a:r>
              <a:t>• 75 total text chunks available for retrieval</a:t>
            </a:r>
          </a:p>
          <a:p>
            <a:pPr>
              <a:spcAft>
                <a:spcPts val="500"/>
              </a:spcAft>
              <a:defRPr sz="1800">
                <a:latin typeface="Arial"/>
              </a:defRPr>
            </a:pPr>
            <a:r>
              <a:t>• TF-IDF / scikit-learn vectorization</a:t>
            </a:r>
          </a:p>
          <a:p>
            <a:pPr>
              <a:spcAft>
                <a:spcPts val="500"/>
              </a:spcAft>
              <a:defRPr sz="1800">
                <a:latin typeface="Arial"/>
              </a:defRPr>
            </a:pPr>
            <a:r>
              <a:t>• Relevant safety rules retrieved for each query</a:t>
            </a:r>
          </a:p>
          <a:p>
            <a:pPr>
              <a:spcAft>
                <a:spcPts val="500"/>
              </a:spcAft>
              <a:defRPr sz="1800">
                <a:latin typeface="Arial"/>
              </a:defRPr>
            </a:pPr>
            <a:r>
              <a:t>• Source document names are shown in compliance findings</a:t>
            </a:r>
          </a:p>
        </p:txBody>
      </p:sp>
      <p:sp>
        <p:nvSpPr>
          <p:cNvPr id="8" name="Rounded Rectangle 7"/>
          <p:cNvSpPr/>
          <p:nvPr/>
        </p:nvSpPr>
        <p:spPr>
          <a:xfrm>
            <a:off x="6309360" y="1143000"/>
            <a:ext cx="4663440" cy="960120"/>
          </a:xfrm>
          <a:prstGeom prst="roundRect">
            <a:avLst/>
          </a:prstGeom>
          <a:solidFill>
            <a:srgbClr val="E2F0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000" b="1">
                <a:solidFill>
                  <a:srgbClr val="1E1E1E"/>
                </a:solidFill>
                <a:latin typeface="Arial"/>
              </a:defRPr>
            </a:pPr>
            <a:r>
              <a:t>Safety rules</a:t>
            </a:r>
            <a:br/>
            <a:r>
              <a:t>↓</a:t>
            </a:r>
            <a:br/>
            <a:r>
              <a:t>RAG retrieval</a:t>
            </a:r>
          </a:p>
        </p:txBody>
      </p:sp>
      <p:sp>
        <p:nvSpPr>
          <p:cNvPr id="9" name="Rounded Rectangle 8"/>
          <p:cNvSpPr/>
          <p:nvPr/>
        </p:nvSpPr>
        <p:spPr>
          <a:xfrm>
            <a:off x="6309360" y="2331720"/>
            <a:ext cx="4663440" cy="960120"/>
          </a:xfrm>
          <a:prstGeom prst="roundRect">
            <a:avLst/>
          </a:prstGeom>
          <a:solidFill>
            <a:srgbClr val="EEF7EE"/>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Machine observations</a:t>
            </a:r>
            <a:br/>
            <a:r>
              <a:t>Temperature • Pressure • RPM</a:t>
            </a:r>
            <a:br/>
            <a:r>
              <a:t>Guard • Emergency Stop</a:t>
            </a:r>
          </a:p>
        </p:txBody>
      </p:sp>
      <p:sp>
        <p:nvSpPr>
          <p:cNvPr id="10" name="Rounded Rectangle 9"/>
          <p:cNvSpPr/>
          <p:nvPr/>
        </p:nvSpPr>
        <p:spPr>
          <a:xfrm>
            <a:off x="6309360" y="3520440"/>
            <a:ext cx="4663440" cy="960120"/>
          </a:xfrm>
          <a:prstGeom prst="roundRect">
            <a:avLst/>
          </a:prstGeom>
          <a:solidFill>
            <a:srgbClr val="FFF4E0"/>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AI compliance analysis</a:t>
            </a:r>
            <a:br/>
            <a:r>
              <a:t>Risk + findings + reasons</a:t>
            </a:r>
          </a:p>
        </p:txBody>
      </p:sp>
      <p:sp>
        <p:nvSpPr>
          <p:cNvPr id="11" name="Rounded Rectangle 10"/>
          <p:cNvSpPr/>
          <p:nvPr/>
        </p:nvSpPr>
        <p:spPr>
          <a:xfrm>
            <a:off x="6309360" y="4709160"/>
            <a:ext cx="4663440" cy="960120"/>
          </a:xfrm>
          <a:prstGeom prst="roundRect">
            <a:avLst/>
          </a:prstGeom>
          <a:solidFill>
            <a:srgbClr val="F8E8E8"/>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Actionable report</a:t>
            </a:r>
            <a:br/>
            <a:r>
              <a:t>STOP / MONITOR / corrective actions</a:t>
            </a: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defRPr sz="2600" b="1">
                <a:solidFill>
                  <a:srgbClr val="1E1E1E"/>
                </a:solidFill>
                <a:latin typeface="Arial"/>
              </a:defRPr>
            </a:pPr>
            <a:r>
              <a:t>Architecture Blueprint</a:t>
            </a:r>
            <a:endParaRPr lang="en-US" sz="2400"/>
          </a:p>
        </p:txBody>
      </p:sp>
      <p:sp>
        <p:nvSpPr>
          <p:cNvPr id="4" name="Rounded Rectangle 3"/>
          <p:cNvSpPr/>
          <p:nvPr/>
        </p:nvSpPr>
        <p:spPr>
          <a:xfrm>
            <a:off x="411480" y="2240280"/>
            <a:ext cx="1828800" cy="914400"/>
          </a:xfrm>
          <a:prstGeom prst="roundRect">
            <a:avLst/>
          </a:prstGeom>
          <a:solidFill>
            <a:srgbClr val="E1F0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Operator /</a:t>
            </a:r>
            <a:br/>
            <a:r>
              <a:t>Safety Engineer</a:t>
            </a:r>
          </a:p>
        </p:txBody>
      </p:sp>
      <p:sp>
        <p:nvSpPr>
          <p:cNvPr id="5" name="Rounded Rectangle 4"/>
          <p:cNvSpPr/>
          <p:nvPr/>
        </p:nvSpPr>
        <p:spPr>
          <a:xfrm>
            <a:off x="2560320" y="2240280"/>
            <a:ext cx="1828800" cy="914400"/>
          </a:xfrm>
          <a:prstGeom prst="roundRect">
            <a:avLst/>
          </a:prstGeom>
          <a:solidFill>
            <a:srgbClr val="EBF7EB"/>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Streamlit UI</a:t>
            </a:r>
            <a:br/>
            <a:r>
              <a:t>Safety Check</a:t>
            </a:r>
          </a:p>
        </p:txBody>
      </p:sp>
      <p:sp>
        <p:nvSpPr>
          <p:cNvPr id="6" name="Rounded Rectangle 5"/>
          <p:cNvSpPr/>
          <p:nvPr/>
        </p:nvSpPr>
        <p:spPr>
          <a:xfrm>
            <a:off x="4709160" y="1234440"/>
            <a:ext cx="2057400" cy="914400"/>
          </a:xfrm>
          <a:prstGeom prst="roundRect">
            <a:avLst/>
          </a:prstGeom>
          <a:solidFill>
            <a:srgbClr val="FFF5DC"/>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RAG Retrieval</a:t>
            </a:r>
            <a:br/>
            <a:r>
              <a:t>TF-IDF + 75 chunks</a:t>
            </a:r>
          </a:p>
        </p:txBody>
      </p:sp>
      <p:sp>
        <p:nvSpPr>
          <p:cNvPr id="7" name="Rounded Rectangle 6"/>
          <p:cNvSpPr/>
          <p:nvPr/>
        </p:nvSpPr>
        <p:spPr>
          <a:xfrm>
            <a:off x="4709160" y="3246120"/>
            <a:ext cx="2057400" cy="914400"/>
          </a:xfrm>
          <a:prstGeom prst="roundRect">
            <a:avLst/>
          </a:prstGeom>
          <a:solidFill>
            <a:srgbClr val="F0E8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Groq LLM</a:t>
            </a:r>
            <a:br/>
            <a:r>
              <a:t>AI Analysis</a:t>
            </a:r>
          </a:p>
        </p:txBody>
      </p:sp>
      <p:sp>
        <p:nvSpPr>
          <p:cNvPr id="8" name="Rounded Rectangle 7"/>
          <p:cNvSpPr/>
          <p:nvPr/>
        </p:nvSpPr>
        <p:spPr>
          <a:xfrm>
            <a:off x="7132320" y="2240280"/>
            <a:ext cx="1920240" cy="914400"/>
          </a:xfrm>
          <a:prstGeom prst="round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Compliance /</a:t>
            </a:r>
            <a:br/>
            <a:r>
              <a:t>Risk Engine</a:t>
            </a:r>
          </a:p>
        </p:txBody>
      </p:sp>
      <p:sp>
        <p:nvSpPr>
          <p:cNvPr id="9" name="Rounded Rectangle 8"/>
          <p:cNvSpPr/>
          <p:nvPr/>
        </p:nvSpPr>
        <p:spPr>
          <a:xfrm>
            <a:off x="9372600" y="1234440"/>
            <a:ext cx="1920240" cy="914400"/>
          </a:xfrm>
          <a:prstGeom prst="roundRect">
            <a:avLst/>
          </a:prstGeom>
          <a:solidFill>
            <a:srgbClr val="EBF7F7"/>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Safety Report</a:t>
            </a:r>
            <a:br/>
            <a:r>
              <a:t>&amp; Findings</a:t>
            </a:r>
          </a:p>
        </p:txBody>
      </p:sp>
      <p:sp>
        <p:nvSpPr>
          <p:cNvPr id="10" name="Rounded Rectangle 9"/>
          <p:cNvSpPr/>
          <p:nvPr/>
        </p:nvSpPr>
        <p:spPr>
          <a:xfrm>
            <a:off x="9372600" y="3246120"/>
            <a:ext cx="1920240" cy="914400"/>
          </a:xfrm>
          <a:prstGeom prst="roundRect">
            <a:avLst/>
          </a:prstGeom>
          <a:solidFill>
            <a:srgbClr val="F5EEFA"/>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Dashboard /</a:t>
            </a:r>
            <a:br/>
            <a:r>
              <a:t>History / Alerts</a:t>
            </a:r>
          </a:p>
        </p:txBody>
      </p:sp>
      <p:cxnSp>
        <p:nvCxnSpPr>
          <p:cNvPr id="11" name="Connector 10"/>
          <p:cNvCxnSpPr/>
          <p:nvPr/>
        </p:nvCxnSpPr>
        <p:spPr>
          <a:xfrm>
            <a:off x="2240280" y="2697480"/>
            <a:ext cx="320040" cy="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389120" y="169164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89120" y="269748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66560" y="1691640"/>
            <a:ext cx="36576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766560" y="2697480"/>
            <a:ext cx="36576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052560" y="169164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52560" y="2697480"/>
            <a:ext cx="320040" cy="100584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5166360"/>
            <a:ext cx="10424160" cy="5943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700" b="1">
                <a:solidFill>
                  <a:srgbClr val="1E1E1E"/>
                </a:solidFill>
                <a:latin typeface="Arial"/>
              </a:defRPr>
            </a:pPr>
            <a:r>
              <a:t>Knowledge sources → Retrieval → AI reasoning → Compliance decision → Actionable safety report</a:t>
            </a:r>
          </a:p>
        </p:txBody>
      </p:sp>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nchor="t">
            <a:spAutoFit/>
          </a:bodyPr>
          <a:lstStyle/>
          <a:p>
            <a:pPr>
              <a:defRPr sz="2700" b="1">
                <a:solidFill>
                  <a:srgbClr val="1E1E1E"/>
                </a:solidFill>
                <a:latin typeface="Arial"/>
              </a:defRPr>
            </a:pPr>
            <a:r>
              <a:t>Role of Agentic AI in the Solution</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nchor="t">
            <a:spAutoFit/>
          </a:bodyPr>
          <a:lstStyle/>
          <a:p>
            <a:pPr>
              <a:defRPr sz="1700" b="0">
                <a:solidFill>
                  <a:srgbClr val="1E1E1E"/>
                </a:solidFill>
                <a:latin typeface="Arial"/>
              </a:defRPr>
            </a:pPr>
            <a:r>
              <a:t>Agentic AI enables the safety advisor to move beyond a simple question-and-answer chatbot by coordinating multiple analysis steps.</a:t>
            </a:r>
            <a:br/>
            <a:br/>
            <a:r>
              <a:t>• Safety Assessment Agent – interprets machine inputs and operating conditions.</a:t>
            </a:r>
            <a:br/>
            <a:r>
              <a:t>• Knowledge/RAG Agent – retrieves the most relevant safety rules from indexed documents.</a:t>
            </a:r>
            <a:br/>
            <a:r>
              <a:t>• Compliance Analysis Agent – compares observations against retrieved requirements.</a:t>
            </a:r>
            <a:br/>
            <a:r>
              <a:t>• Recommendation Agent – converts detected violations into prioritized corrective actions.</a:t>
            </a:r>
            <a:br/>
            <a:r>
              <a:t>• Reporting Agent – produces the compliance report, risk summary, alerts and historical record.</a:t>
            </a:r>
            <a:br/>
            <a:br/>
            <a:r>
              <a:t>The workflow uses the current machine context and retrieved safety guidance so the final response is tied to documented rules rather than generic advice.</a:t>
            </a:r>
            <a:br/>
            <a:br/>
            <a:r>
              <a:t>Result: a structured, explainable safety-check workflow with traceable findings and recommended actions.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Prompt &amp; AI Analysis Flow</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283" name="Rounded Rectangle 282"/>
          <p:cNvSpPr/>
          <p:nvPr/>
        </p:nvSpPr>
        <p:spPr>
          <a:xfrm>
            <a:off x="731520" y="1234440"/>
            <a:ext cx="4297680" cy="3566160"/>
          </a:xfrm>
          <a:prstGeom prst="round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BEFORE PROMPT / INPUT</a:t>
            </a:r>
            <a:br/>
            <a:br/>
            <a:r>
              <a:t>Machine ID: M002</a:t>
            </a:r>
            <a:br/>
            <a:r>
              <a:t>Machine Type: Industrial Press</a:t>
            </a:r>
            <a:br/>
            <a:r>
              <a:t>Temperature: 120°C</a:t>
            </a:r>
            <a:br/>
            <a:r>
              <a:t>Pressure: 250 PSI</a:t>
            </a:r>
            <a:br/>
            <a:r>
              <a:t>RPM: 5000</a:t>
            </a:r>
            <a:br/>
            <a:r>
              <a:t>Safety Guard: OPEN</a:t>
            </a:r>
            <a:br/>
            <a:r>
              <a:t>Emergency Stop: FUNCTIONAL</a:t>
            </a:r>
            <a:br/>
            <a:r>
              <a:t>Operating Condition: NORMAL</a:t>
            </a:r>
          </a:p>
        </p:txBody>
      </p:sp>
      <p:sp>
        <p:nvSpPr>
          <p:cNvPr id="284" name="Rounded Rectangle 283"/>
          <p:cNvSpPr/>
          <p:nvPr/>
        </p:nvSpPr>
        <p:spPr>
          <a:xfrm>
            <a:off x="6400800" y="1234440"/>
            <a:ext cx="4297680" cy="3566160"/>
          </a:xfrm>
          <a:prstGeom prst="round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AFTER AI + RAG ANALYSIS</a:t>
            </a:r>
            <a:br/>
            <a:br/>
            <a:r>
              <a:t>Risk: HIGH</a:t>
            </a:r>
            <a:br/>
            <a:r>
              <a:t>Compliance: NON-COMPLIANT</a:t>
            </a:r>
            <a:br/>
            <a:r>
              <a:t>Action: STOP MACHINE</a:t>
            </a:r>
            <a:br/>
            <a:br/>
            <a:r>
              <a:t>Detected: temperature, pressure, RPM and safety-guard violations.</a:t>
            </a:r>
            <a:br/>
            <a:br/>
            <a:r>
              <a:t>Output includes evidence, source documents and corrective actions.</a:t>
            </a:r>
          </a:p>
        </p:txBody>
      </p:sp>
      <p:sp>
        <p:nvSpPr>
          <p:cNvPr id="285" name="Rounded Rectangle 284"/>
          <p:cNvSpPr/>
          <p:nvPr/>
        </p:nvSpPr>
        <p:spPr>
          <a:xfrm>
            <a:off x="5166360" y="2514600"/>
            <a:ext cx="1097280" cy="731520"/>
          </a:xfrm>
          <a:prstGeom prst="roundRect">
            <a:avLst/>
          </a:prstGeom>
          <a:solidFill>
            <a:srgbClr val="FFF6DC"/>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RAG</a:t>
            </a:r>
            <a:br/>
            <a:r>
              <a:t>+</a:t>
            </a:r>
            <a:br/>
            <a:r>
              <a:t>LLM</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endParaRPr/>
          </a:p>
        </p:txBody>
      </p:sp>
      <p:pic>
        <p:nvPicPr>
          <p:cNvPr id="283" name="Picture 282"/>
          <p:cNvPicPr>
            <a:picLocks noChangeAspect="1"/>
          </p:cNvPicPr>
          <p:nvPr/>
        </p:nvPicPr>
        <p:blipFill>
          <a:blip r:embed="rId3"/>
          <a:srcRect/>
          <a:stretch/>
        </p:blipFill>
        <p:spPr>
          <a:xfrm>
            <a:off x="535858" y="667601"/>
            <a:ext cx="10191136" cy="5732513"/>
          </a:xfrm>
          <a:prstGeom prst="rect">
            <a:avLst/>
          </a:prstGeom>
        </p:spPr>
      </p:pic>
      <p:sp>
        <p:nvSpPr>
          <p:cNvPr id="284" name="Rounded Rectangle 283"/>
          <p:cNvSpPr/>
          <p:nvPr/>
        </p:nvSpPr>
        <p:spPr>
          <a:xfrm>
            <a:off x="731520" y="5989320"/>
            <a:ext cx="10698480" cy="4114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1E1E1E"/>
                </a:solidFill>
                <a:latin typeface="Arial"/>
              </a:defRPr>
            </a:pPr>
            <a:r>
              <a:t>Dashboard output: 2 checks recorded • 1 compliant • 1 non-compliant • HIGH-RISK alert for M002</a:t>
            </a:r>
          </a:p>
        </p:txBody>
      </p:sp>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endParaRPr/>
          </a:p>
        </p:txBody>
      </p:sp>
      <p:sp>
        <p:nvSpPr>
          <p:cNvPr id="283" name="Rounded Rectangle 282"/>
          <p:cNvSpPr/>
          <p:nvPr/>
        </p:nvSpPr>
        <p:spPr>
          <a:xfrm>
            <a:off x="685800" y="1051560"/>
            <a:ext cx="10789920" cy="658368"/>
          </a:xfrm>
          <a:prstGeom prst="roundRect">
            <a:avLst/>
          </a:prstGeom>
          <a:solidFill>
            <a:srgbClr val="FFE4E4"/>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200" b="1">
                <a:solidFill>
                  <a:srgbClr val="1E1E1E"/>
                </a:solidFill>
                <a:latin typeface="Arial"/>
              </a:defRPr>
            </a:pPr>
            <a:r>
              <a:t>M002 – Industrial Press | HIGH | NON-COMPLIANT | STOP MACHINE</a:t>
            </a:r>
          </a:p>
        </p:txBody>
      </p:sp>
      <p:sp>
        <p:nvSpPr>
          <p:cNvPr id="284" name="TextBox 283"/>
          <p:cNvSpPr txBox="1"/>
          <p:nvPr/>
        </p:nvSpPr>
        <p:spPr>
          <a:xfrm>
            <a:off x="777240" y="1920240"/>
            <a:ext cx="5212080" cy="3474720"/>
          </a:xfrm>
          <a:prstGeom prst="rect">
            <a:avLst/>
          </a:prstGeom>
          <a:noFill/>
        </p:spPr>
        <p:txBody>
          <a:bodyPr wrap="square">
            <a:spAutoFit/>
          </a:bodyPr>
          <a:lstStyle/>
          <a:p>
            <a:pPr>
              <a:defRPr sz="1900" b="1">
                <a:latin typeface="Arial"/>
              </a:defRPr>
            </a:pPr>
            <a:r>
              <a:t>Detected Risks</a:t>
            </a:r>
          </a:p>
          <a:p>
            <a:pPr>
              <a:spcAft>
                <a:spcPts val="500"/>
              </a:spcAft>
              <a:defRPr sz="1700">
                <a:latin typeface="Arial"/>
              </a:defRPr>
            </a:pPr>
            <a:r>
              <a:t>• Temperature: 120°C &gt; 100°C limit</a:t>
            </a:r>
          </a:p>
          <a:p>
            <a:pPr>
              <a:spcAft>
                <a:spcPts val="500"/>
              </a:spcAft>
              <a:defRPr sz="1700">
                <a:latin typeface="Arial"/>
              </a:defRPr>
            </a:pPr>
            <a:r>
              <a:t>• Pressure: 250 PSI &gt; 200 PSI limit</a:t>
            </a:r>
          </a:p>
          <a:p>
            <a:pPr>
              <a:spcAft>
                <a:spcPts val="500"/>
              </a:spcAft>
              <a:defRPr sz="1700">
                <a:latin typeface="Arial"/>
              </a:defRPr>
            </a:pPr>
            <a:r>
              <a:t>• RPM: 5000 &gt; 4500 limit</a:t>
            </a:r>
          </a:p>
          <a:p>
            <a:pPr>
              <a:spcAft>
                <a:spcPts val="500"/>
              </a:spcAft>
              <a:defRPr sz="1700">
                <a:latin typeface="Arial"/>
              </a:defRPr>
            </a:pPr>
            <a:r>
              <a:t>• Safety Guard: OPEN during operation</a:t>
            </a:r>
          </a:p>
          <a:p>
            <a:pPr>
              <a:spcAft>
                <a:spcPts val="500"/>
              </a:spcAft>
              <a:defRPr sz="1700">
                <a:latin typeface="Arial"/>
              </a:defRPr>
            </a:pPr>
            <a:r>
              <a:t>• Emergency Stop: FUNCTIONAL</a:t>
            </a:r>
          </a:p>
        </p:txBody>
      </p:sp>
      <p:sp>
        <p:nvSpPr>
          <p:cNvPr id="285" name="TextBox 284"/>
          <p:cNvSpPr txBox="1"/>
          <p:nvPr/>
        </p:nvSpPr>
        <p:spPr>
          <a:xfrm>
            <a:off x="6126480" y="1920240"/>
            <a:ext cx="4754880" cy="3474720"/>
          </a:xfrm>
          <a:prstGeom prst="rect">
            <a:avLst/>
          </a:prstGeom>
          <a:noFill/>
        </p:spPr>
        <p:txBody>
          <a:bodyPr wrap="square">
            <a:spAutoFit/>
          </a:bodyPr>
          <a:lstStyle/>
          <a:p>
            <a:pPr>
              <a:defRPr sz="1900" b="1">
                <a:latin typeface="Arial"/>
              </a:defRPr>
            </a:pPr>
            <a:r>
              <a:t>Generated Actions</a:t>
            </a:r>
          </a:p>
          <a:p>
            <a:pPr>
              <a:spcAft>
                <a:spcPts val="500"/>
              </a:spcAft>
              <a:defRPr sz="1700">
                <a:latin typeface="Arial"/>
              </a:defRPr>
            </a:pPr>
            <a:r>
              <a:t>• Immediate controlled shutdown</a:t>
            </a:r>
          </a:p>
          <a:p>
            <a:pPr>
              <a:spcAft>
                <a:spcPts val="500"/>
              </a:spcAft>
              <a:defRPr sz="1700">
                <a:latin typeface="Arial"/>
              </a:defRPr>
            </a:pPr>
            <a:r>
              <a:t>• Safely depressurize the system</a:t>
            </a:r>
          </a:p>
          <a:p>
            <a:pPr>
              <a:spcAft>
                <a:spcPts val="500"/>
              </a:spcAft>
              <a:defRPr sz="1700">
                <a:latin typeface="Arial"/>
              </a:defRPr>
            </a:pPr>
            <a:r>
              <a:t>• Cool the machine below the defined limit</a:t>
            </a:r>
          </a:p>
          <a:p>
            <a:pPr>
              <a:spcAft>
                <a:spcPts val="500"/>
              </a:spcAft>
              <a:defRPr sz="1700">
                <a:latin typeface="Arial"/>
              </a:defRPr>
            </a:pPr>
            <a:r>
              <a:t>• Inspect guard/interlock and drive system</a:t>
            </a:r>
          </a:p>
          <a:p>
            <a:pPr>
              <a:spcAft>
                <a:spcPts val="500"/>
              </a:spcAft>
              <a:defRPr sz="1700">
                <a:latin typeface="Arial"/>
              </a:defRPr>
            </a:pPr>
            <a:r>
              <a:t>• Verify emergency-stop functionality before restart</a:t>
            </a:r>
          </a:p>
        </p:txBody>
      </p:sp>
      <p:sp>
        <p:nvSpPr>
          <p:cNvPr id="286" name="Rounded Rectangle 285"/>
          <p:cNvSpPr/>
          <p:nvPr/>
        </p:nvSpPr>
        <p:spPr>
          <a:xfrm>
            <a:off x="777240" y="5577840"/>
            <a:ext cx="10149840" cy="502920"/>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500" b="1">
                <a:solidFill>
                  <a:srgbClr val="1E1E1E"/>
                </a:solidFill>
                <a:latin typeface="Arial"/>
              </a:defRPr>
            </a:pPr>
            <a:r>
              <a:t>Report is tied to retrieved safety guidance and records the reason/source for each finding.</a:t>
            </a:r>
          </a:p>
        </p:txBody>
      </p:sp>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defRPr sz="2500" b="1">
                <a:solidFill>
                  <a:srgbClr val="1E1E1E"/>
                </a:solidFill>
                <a:latin typeface="Arial"/>
              </a:defRPr>
            </a:pPr>
            <a:r>
              <a:t>Project Output Screenshot / Evidence</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endParaRPr/>
          </a:p>
        </p:txBody>
      </p:sp>
      <p:sp>
        <p:nvSpPr>
          <p:cNvPr id="283" name="Rounded Rectangle 282"/>
          <p:cNvSpPr/>
          <p:nvPr/>
        </p:nvSpPr>
        <p:spPr>
          <a:xfrm>
            <a:off x="685800" y="1051560"/>
            <a:ext cx="5120640" cy="1005840"/>
          </a:xfrm>
          <a:prstGeom prst="roundRect">
            <a:avLst/>
          </a:prstGeom>
          <a:solidFill>
            <a:srgbClr val="E2F7E8"/>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100" b="1">
                <a:solidFill>
                  <a:srgbClr val="1E1E1E"/>
                </a:solidFill>
                <a:latin typeface="Arial"/>
              </a:defRPr>
            </a:pPr>
            <a:r>
              <a:t>M001</a:t>
            </a:r>
            <a:br/>
            <a:r>
              <a:t>COMPLIANT • LOW RISK • MONITOR</a:t>
            </a:r>
          </a:p>
        </p:txBody>
      </p:sp>
      <p:sp>
        <p:nvSpPr>
          <p:cNvPr id="284" name="Rounded Rectangle 283"/>
          <p:cNvSpPr/>
          <p:nvPr/>
        </p:nvSpPr>
        <p:spPr>
          <a:xfrm>
            <a:off x="6080760" y="1051560"/>
            <a:ext cx="5120640" cy="1005840"/>
          </a:xfrm>
          <a:prstGeom prst="roundRect">
            <a:avLst/>
          </a:prstGeom>
          <a:solidFill>
            <a:srgbClr val="FFE4E4"/>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900" b="1">
                <a:solidFill>
                  <a:srgbClr val="1E1E1E"/>
                </a:solidFill>
                <a:latin typeface="Arial"/>
              </a:defRPr>
            </a:pPr>
            <a:r>
              <a:t>M002</a:t>
            </a:r>
            <a:br/>
            <a:r>
              <a:t>NON-COMPLIANT • HIGH RISK • STOP MACHINE</a:t>
            </a:r>
          </a:p>
        </p:txBody>
      </p:sp>
      <p:sp>
        <p:nvSpPr>
          <p:cNvPr id="285" name="TextBox 284"/>
          <p:cNvSpPr txBox="1"/>
          <p:nvPr/>
        </p:nvSpPr>
        <p:spPr>
          <a:xfrm>
            <a:off x="777240" y="2468880"/>
            <a:ext cx="10149840" cy="2560320"/>
          </a:xfrm>
          <a:prstGeom prst="rect">
            <a:avLst/>
          </a:prstGeom>
          <a:noFill/>
        </p:spPr>
        <p:txBody>
          <a:bodyPr wrap="square">
            <a:spAutoFit/>
          </a:bodyPr>
          <a:lstStyle/>
          <a:p>
            <a:pPr>
              <a:defRPr sz="2000" b="1">
                <a:latin typeface="Arial"/>
              </a:defRPr>
            </a:pPr>
            <a:r>
              <a:t>Dashboard / History Features</a:t>
            </a:r>
          </a:p>
          <a:p>
            <a:pPr>
              <a:spcAft>
                <a:spcPts val="500"/>
              </a:spcAft>
              <a:defRPr sz="1800">
                <a:latin typeface="Arial"/>
              </a:defRPr>
            </a:pPr>
            <a:r>
              <a:t>• Historical safety checks are retained by machine ID and timestamp.</a:t>
            </a:r>
          </a:p>
          <a:p>
            <a:pPr>
              <a:spcAft>
                <a:spcPts val="500"/>
              </a:spcAft>
              <a:defRPr sz="1800">
                <a:latin typeface="Arial"/>
              </a:defRPr>
            </a:pPr>
            <a:r>
              <a:t>• Safety alerts surface high-risk records.</a:t>
            </a:r>
          </a:p>
          <a:p>
            <a:pPr>
              <a:spcAft>
                <a:spcPts val="500"/>
              </a:spcAft>
              <a:defRPr sz="1800">
                <a:latin typeface="Arial"/>
              </a:defRPr>
            </a:pPr>
            <a:r>
              <a:t>• Compliance rate is calculated from recorded checks.</a:t>
            </a:r>
          </a:p>
          <a:p>
            <a:pPr>
              <a:spcAft>
                <a:spcPts val="500"/>
              </a:spcAft>
              <a:defRPr sz="1800">
                <a:latin typeface="Arial"/>
              </a:defRPr>
            </a:pPr>
            <a:r>
              <a:t>• Historical reports can be selected for detailed review.</a:t>
            </a:r>
          </a:p>
          <a:p>
            <a:pPr>
              <a:spcAft>
                <a:spcPts val="500"/>
              </a:spcAft>
              <a:defRPr sz="1800">
                <a:latin typeface="Arial"/>
              </a:defRPr>
            </a:pPr>
            <a:r>
              <a:t>• Recommended improvements can be tracked for follow-up maintenance.</a:t>
            </a:r>
          </a:p>
        </p:txBody>
      </p:sp>
      <p:sp>
        <p:nvSpPr>
          <p:cNvPr id="286" name="Rounded Rectangle 285"/>
          <p:cNvSpPr/>
          <p:nvPr/>
        </p:nvSpPr>
        <p:spPr>
          <a:xfrm>
            <a:off x="777240" y="5303520"/>
            <a:ext cx="10149840" cy="6400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800" b="1">
                <a:solidFill>
                  <a:srgbClr val="1E1E1E"/>
                </a:solidFill>
                <a:latin typeface="Arial"/>
              </a:defRPr>
            </a:pPr>
            <a:r>
              <a:t>Prototype result: 2 checks recorded → 1 compliant + 1 non-compliant → 50% compliance rate</a:t>
            </a:r>
          </a:p>
        </p:txBody>
      </p:sp>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nchor="t">
            <a:spAutoFit/>
          </a:bodyPr>
          <a:lstStyle/>
          <a:p>
            <a:pPr>
              <a:defRPr sz="2600" b="1">
                <a:solidFill>
                  <a:srgbClr val="1E1E1E"/>
                </a:solidFill>
                <a:latin typeface="Arial"/>
              </a:defRPr>
            </a:pPr>
            <a:r>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nchor="t">
            <a:spAutoFit/>
          </a:bodyPr>
          <a:lstStyle/>
          <a:p>
            <a:pPr>
              <a:defRPr sz="1700" b="0">
                <a:solidFill>
                  <a:srgbClr val="1E1E1E"/>
                </a:solidFill>
                <a:latin typeface="Arial"/>
              </a:defRPr>
            </a:pPr>
            <a:r>
              <a:t>The AI Mechanical Safety Compliance Advisor combines RAG, structured machine parameters and AI-generated recommendations in one safety workflow.</a:t>
            </a:r>
            <a:br/>
            <a:br/>
            <a:r>
              <a:t>• Multi-step / Agentic Analysis – retrieval, compliance reasoning, recommendations and reporting.</a:t>
            </a:r>
            <a:br/>
            <a:r>
              <a:t>• RAG-Based Evidence – uses a dedicated safety knowledge base instead of model memory alone.</a:t>
            </a:r>
            <a:br/>
            <a:r>
              <a:t>• Parameter-Aware Checking – evaluates temperature, pressure and RPM against defined thresholds.</a:t>
            </a:r>
            <a:br/>
            <a:r>
              <a:t>• Safety-Device Awareness – checks guard and emergency-stop states alongside numeric readings.</a:t>
            </a:r>
            <a:br/>
            <a:r>
              <a:t>• Explainable Findings – reports observed value, required condition, reason and source document.</a:t>
            </a:r>
            <a:br/>
            <a:r>
              <a:t>• Action Prioritization – produces IMMEDIATE, SHORT-TERM and SCHEDULED actions.</a:t>
            </a:r>
            <a:br/>
            <a:r>
              <a:t>• History &amp; Alerts – stores checks and highlights high-risk conditions.</a:t>
            </a:r>
            <a:br/>
            <a:r>
              <a:t>• Human-in-the-Loop – supports qualified safety personnel rather than replacing formal inspections.</a:t>
            </a:r>
            <a:br/>
            <a:br/>
            <a:r>
              <a:t>This makes the prototype a structured safety-compliance assistant rather than a generic chatbot.</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defRPr sz="2600" b="1">
                <a:solidFill>
                  <a:srgbClr val="1E1E1E"/>
                </a:solidFill>
                <a:latin typeface="Arial"/>
              </a:defRPr>
            </a:pPr>
            <a:r>
              <a:t>GitHub / Project Repository</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buClr>
                <a:srgbClr val="2B3541"/>
              </a:buClr>
              <a:buSzPts val="1850"/>
              <a:defRPr sz="1700" b="0">
                <a:solidFill>
                  <a:srgbClr val="1E1E1E"/>
                </a:solidFill>
                <a:latin typeface="Arial"/>
              </a:defRPr>
            </a:pPr>
            <a:r>
              <a:rPr lang="en-IN" sz="1700" b="1" dirty="0">
                <a:solidFill>
                  <a:srgbClr val="1E1E1E"/>
                </a:solidFill>
              </a:rPr>
              <a:t>GitHub Repository</a:t>
            </a:r>
            <a:br>
              <a:rPr lang="en-IN" sz="1700" dirty="0">
                <a:solidFill>
                  <a:srgbClr val="1E1E1E"/>
                </a:solidFill>
              </a:rPr>
            </a:br>
            <a:r>
              <a:rPr lang="en-IN" sz="1700" dirty="0">
                <a:solidFill>
                  <a:srgbClr val="1E1E1E"/>
                </a:solidFill>
              </a:rPr>
              <a:t>AI Mechanical Safety Compliance Advisor</a:t>
            </a:r>
            <a:br>
              <a:rPr lang="en-IN" sz="1700" dirty="0">
                <a:solidFill>
                  <a:srgbClr val="1E1E1E"/>
                </a:solidFill>
              </a:rPr>
            </a:br>
            <a:r>
              <a:rPr lang="en-IN" sz="1700" dirty="0">
                <a:solidFill>
                  <a:srgbClr val="1E1E1E"/>
                </a:solidFill>
                <a:hlinkClick r:id="rId3"/>
              </a:rPr>
              <a:t>🔗 </a:t>
            </a:r>
            <a:r>
              <a:rPr lang="en-IN" sz="1700" dirty="0">
                <a:solidFill>
                  <a:srgbClr val="1E1E1E"/>
                </a:solidFill>
                <a:hlinkClick r:id="rId3"/>
              </a:rPr>
              <a:t>https://github.com/Anusha-Gangoor/AI-Mechanical-Safety-Compliance-Advisor</a:t>
            </a:r>
            <a:endParaRPr lang="en-IN" sz="1700" dirty="0">
              <a:solidFill>
                <a:srgbClr val="1E1E1E"/>
              </a:solidFill>
            </a:endParaRPr>
          </a:p>
          <a:p>
            <a:pPr lvl="0">
              <a:buClr>
                <a:srgbClr val="2B3541"/>
              </a:buClr>
              <a:buSzPts val="1850"/>
              <a:defRPr sz="1700" b="0">
                <a:solidFill>
                  <a:srgbClr val="1E1E1E"/>
                </a:solidFill>
                <a:latin typeface="Arial"/>
              </a:defRPr>
            </a:pPr>
            <a:endParaRPr lang="en-IN" sz="1700" dirty="0">
              <a:solidFill>
                <a:srgbClr val="1E1E1E"/>
              </a:solidFill>
            </a:endParaRPr>
          </a:p>
          <a:p>
            <a:pPr lvl="0">
              <a:buClr>
                <a:srgbClr val="2B3541"/>
              </a:buClr>
              <a:buSzPts val="1850"/>
              <a:defRPr sz="1700" b="0">
                <a:solidFill>
                  <a:srgbClr val="1E1E1E"/>
                </a:solidFill>
                <a:latin typeface="Arial"/>
              </a:defRPr>
            </a:pPr>
            <a:r>
              <a:rPr lang="en-IN" sz="1700" b="1" dirty="0">
                <a:solidFill>
                  <a:srgbClr val="1E1E1E"/>
                </a:solidFill>
              </a:rPr>
              <a:t>Live Project Website</a:t>
            </a:r>
            <a:endParaRPr lang="en-IN" sz="1700" dirty="0">
              <a:solidFill>
                <a:srgbClr val="1E1E1E"/>
              </a:solidFill>
            </a:endParaRPr>
          </a:p>
          <a:p>
            <a:pPr lvl="0">
              <a:buClr>
                <a:srgbClr val="2B3541"/>
              </a:buClr>
              <a:buSzPts val="1850"/>
              <a:defRPr sz="1700" b="0">
                <a:solidFill>
                  <a:srgbClr val="1E1E1E"/>
                </a:solidFill>
                <a:latin typeface="Arial"/>
              </a:defRPr>
            </a:pPr>
            <a:r>
              <a:rPr lang="en-IN" sz="1700" dirty="0">
                <a:solidFill>
                  <a:srgbClr val="1E1E1E"/>
                </a:solidFill>
                <a:hlinkClick r:id="rId4"/>
              </a:rPr>
              <a:t>AI Mechanical Safety Advisor · </a:t>
            </a:r>
            <a:r>
              <a:rPr lang="en-IN" sz="1700" dirty="0" err="1">
                <a:solidFill>
                  <a:srgbClr val="1E1E1E"/>
                </a:solidFill>
                <a:hlinkClick r:id="rId4"/>
              </a:rPr>
              <a:t>Streamlit</a:t>
            </a:r>
            <a:endParaRPr dirty="0"/>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defRPr sz="2600" b="1">
                <a:solidFill>
                  <a:srgbClr val="1E1E1E"/>
                </a:solidFill>
                <a:latin typeface="Arial"/>
              </a:defRPr>
            </a:pPr>
            <a:r>
              <a:rPr dirty="0"/>
              <a:t>Future Scope</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7"/>
            <a:ext cx="9214580" cy="437397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defRPr sz="1600" b="0">
                <a:solidFill>
                  <a:srgbClr val="1E1E1E"/>
                </a:solidFill>
                <a:latin typeface="Arial"/>
              </a:defRPr>
            </a:pPr>
            <a:r>
              <a:rPr dirty="0"/>
              <a:t>1. Live Sensor Integration – connect temperature, pressure, RPM and guard/interlock sensors for real-time monitoring.</a:t>
            </a:r>
            <a:br>
              <a:rPr dirty="0"/>
            </a:br>
            <a:r>
              <a:rPr dirty="0"/>
              <a:t>2. Predictive Maintenance – use historical readings and maintenance records to identify abnormal trends before failure.</a:t>
            </a:r>
            <a:br>
              <a:rPr dirty="0"/>
            </a:br>
            <a:r>
              <a:rPr dirty="0"/>
              <a:t>3. Computer Vision Safety Checks – detect open guards, unsafe operator proximity or visible machine anomalies.</a:t>
            </a:r>
            <a:br>
              <a:rPr dirty="0"/>
            </a:br>
            <a:r>
              <a:rPr dirty="0"/>
              <a:t>4. Automated Notifications – send alerts through email/SMS/Teams when critical thresholds are exceeded.</a:t>
            </a:r>
            <a:br>
              <a:rPr dirty="0"/>
            </a:br>
            <a:r>
              <a:rPr dirty="0"/>
              <a:t>5. Role-Based Access &amp; Audit Trail – provide operator, supervisor and safety-engineer views with traceable actions.</a:t>
            </a:r>
            <a:br>
              <a:rPr dirty="0"/>
            </a:br>
            <a:r>
              <a:rPr dirty="0"/>
              <a:t>6. Standards &amp; Document Expansion – add organization-approved SOPs, inspection checklists and applicable standards.</a:t>
            </a:r>
            <a:br>
              <a:rPr dirty="0"/>
            </a:br>
            <a:r>
              <a:rPr dirty="0"/>
              <a:t>7. Multilingual Voice Interface – allow operators to interact with the safety advisor using voice and multiple languages.</a:t>
            </a:r>
            <a:br>
              <a:rPr dirty="0"/>
            </a:br>
            <a:br>
              <a:rPr dirty="0"/>
            </a:br>
            <a:r>
              <a:rPr dirty="0"/>
              <a:t>8. Edge / IoT Deployment – run safety monitoring closer to machines for faster detection and reduced latency.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67045" y="690061"/>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800" b="0">
                <a:solidFill>
                  <a:srgbClr val="1E1E1E"/>
                </a:solidFill>
                <a:latin typeface="Arial"/>
              </a:defRPr>
            </a:pPr>
            <a:r>
              <a:rPr b="1" dirty="0" err="1"/>
              <a:t>Credly</a:t>
            </a:r>
            <a:r>
              <a:rPr b="1" dirty="0"/>
              <a:t> / IBM course certificate screenshot</a:t>
            </a:r>
            <a:r>
              <a:rPr lang="en-IN" b="1" dirty="0"/>
              <a:t>s</a:t>
            </a:r>
            <a:endParaRPr b="1" dirty="0"/>
          </a:p>
        </p:txBody>
      </p:sp>
      <p:pic>
        <p:nvPicPr>
          <p:cNvPr id="5" name="Picture 4">
            <a:extLst>
              <a:ext uri="{FF2B5EF4-FFF2-40B4-BE49-F238E27FC236}">
                <a16:creationId xmlns:a16="http://schemas.microsoft.com/office/drawing/2014/main" id="{2FCB1C95-F34F-0E8E-B1BC-A6E0836BBA5A}"/>
              </a:ext>
            </a:extLst>
          </p:cNvPr>
          <p:cNvPicPr>
            <a:picLocks noChangeAspect="1"/>
          </p:cNvPicPr>
          <p:nvPr/>
        </p:nvPicPr>
        <p:blipFill>
          <a:blip r:embed="rId2"/>
          <a:stretch>
            <a:fillRect/>
          </a:stretch>
        </p:blipFill>
        <p:spPr>
          <a:xfrm>
            <a:off x="628285" y="1817100"/>
            <a:ext cx="5313893" cy="3699780"/>
          </a:xfrm>
          <a:prstGeom prst="rect">
            <a:avLst/>
          </a:prstGeom>
        </p:spPr>
      </p:pic>
      <p:pic>
        <p:nvPicPr>
          <p:cNvPr id="8" name="Picture 7">
            <a:extLst>
              <a:ext uri="{FF2B5EF4-FFF2-40B4-BE49-F238E27FC236}">
                <a16:creationId xmlns:a16="http://schemas.microsoft.com/office/drawing/2014/main" id="{556EFF16-857E-D277-EC53-AC40D0C0287B}"/>
              </a:ext>
            </a:extLst>
          </p:cNvPr>
          <p:cNvPicPr>
            <a:picLocks noChangeAspect="1"/>
          </p:cNvPicPr>
          <p:nvPr/>
        </p:nvPicPr>
        <p:blipFill>
          <a:blip r:embed="rId3"/>
          <a:stretch>
            <a:fillRect/>
          </a:stretch>
        </p:blipFill>
        <p:spPr>
          <a:xfrm>
            <a:off x="6376352" y="1817100"/>
            <a:ext cx="5313893" cy="369978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239" r="2239"/>
          <a:stretch/>
        </p:blipFill>
        <p:spPr>
          <a:xfrm>
            <a:off x="511217" y="1455311"/>
            <a:ext cx="5310205" cy="3576583"/>
          </a:xfrm>
          <a:prstGeom prst="rect">
            <a:avLst/>
          </a:prstGeom>
        </p:spPr>
      </p:pic>
      <p:pic>
        <p:nvPicPr>
          <p:cNvPr id="8" name="Picture 7">
            <a:extLst>
              <a:ext uri="{FF2B5EF4-FFF2-40B4-BE49-F238E27FC236}">
                <a16:creationId xmlns:a16="http://schemas.microsoft.com/office/drawing/2014/main" id="{962CDAB6-F287-8AFD-967F-2279ED8989FA}"/>
              </a:ext>
            </a:extLst>
          </p:cNvPr>
          <p:cNvPicPr>
            <a:picLocks noChangeAspect="1"/>
          </p:cNvPicPr>
          <p:nvPr/>
        </p:nvPicPr>
        <p:blipFill>
          <a:blip r:embed="rId3"/>
          <a:stretch>
            <a:fillRect/>
          </a:stretch>
        </p:blipFill>
        <p:spPr>
          <a:xfrm>
            <a:off x="6167380" y="1455311"/>
            <a:ext cx="5624250" cy="357658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11" name="Rounded Rectangle 310"/>
          <p:cNvSpPr/>
          <p:nvPr/>
        </p:nvSpPr>
        <p:spPr>
          <a:xfrm>
            <a:off x="914400" y="2286000"/>
            <a:ext cx="10241280" cy="1097280"/>
          </a:xfrm>
          <a:prstGeom prst="roundRect">
            <a:avLst/>
          </a:prstGeom>
          <a:solidFill>
            <a:srgbClr val="EBF2FF"/>
          </a:solidFill>
          <a:ln>
            <a:no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2800" b="1">
                <a:solidFill>
                  <a:srgbClr val="1E1E1E"/>
                </a:solidFill>
                <a:latin typeface="Arial"/>
              </a:defRPr>
            </a:pPr>
            <a:r>
              <a:t>Thank You</a:t>
            </a:r>
            <a:br/>
            <a:r>
              <a:t>AI Mechanical Safety Compliance Advisor</a:t>
            </a:r>
          </a:p>
        </p:txBody>
      </p:sp>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1656</Words>
  <Application>Microsoft Office PowerPoint</Application>
  <PresentationFormat>Widescreen</PresentationFormat>
  <Paragraphs>95</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basavakumar.in@gmail.com</cp:lastModifiedBy>
  <cp:revision>3</cp:revision>
  <dcterms:created xsi:type="dcterms:W3CDTF">2025-07-08T05:06:56Z</dcterms:created>
  <dcterms:modified xsi:type="dcterms:W3CDTF">2026-09-23T16:38:20Z</dcterms:modified>
</cp:coreProperties>
</file>